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01fcd9fe01480a" /><Relationship Type="http://schemas.openxmlformats.org/officeDocument/2006/relationships/extended-properties" Target="/docProps/app.xml" Id="Rc188dd24f1894285" /><Relationship Type="http://schemas.openxmlformats.org/officeDocument/2006/relationships/officeDocument" Target="/ppt/presentation.xml" Id="R1bfc03e171a948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2bf13e87454587"/>
  </p:sldMasterIdLst>
  <p:notesMasterIdLst>
    <p:notesMasterId xmlns:r="http://schemas.openxmlformats.org/officeDocument/2006/relationships" r:id="Rd150c66321af49fb"/>
  </p:notesMasterIdLst>
  <p:sldIdLst>
    <p:sldId xmlns:r="http://schemas.openxmlformats.org/officeDocument/2006/relationships" id="256" r:id="R11c5ff075ed7481e"/>
    <p:sldId xmlns:r="http://schemas.openxmlformats.org/officeDocument/2006/relationships" id="257" r:id="Rb23ae661bc7b4b3e"/>
    <p:sldId xmlns:r="http://schemas.openxmlformats.org/officeDocument/2006/relationships" id="258" r:id="R71387bf1990e4123"/>
    <p:sldId xmlns:r="http://schemas.openxmlformats.org/officeDocument/2006/relationships" id="259" r:id="Rb5607d529eca43e4"/>
    <p:sldId xmlns:r="http://schemas.openxmlformats.org/officeDocument/2006/relationships" id="260" r:id="Rd22f9f37c3b5452d"/>
    <p:sldId xmlns:r="http://schemas.openxmlformats.org/officeDocument/2006/relationships" id="261" r:id="R22a4791a98b146f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2bf13e87454587" /><Relationship Type="http://schemas.openxmlformats.org/officeDocument/2006/relationships/theme" Target="/ppt/theme/theme1.xml" Id="Rcb0e8004c7fb42bc" /><Relationship Type="http://schemas.openxmlformats.org/officeDocument/2006/relationships/notesMaster" Target="/ppt/notesMasters/notesMaster1.xml" Id="Rd150c66321af49fb" /><Relationship Type="http://schemas.openxmlformats.org/officeDocument/2006/relationships/presProps" Target="/ppt/presProps.xml" Id="Rb8ea252f30104cee" /><Relationship Type="http://schemas.openxmlformats.org/officeDocument/2006/relationships/viewProps" Target="/ppt/viewProps.xml" Id="R391fee89bb644b8f" /><Relationship Type="http://schemas.openxmlformats.org/officeDocument/2006/relationships/tableStyles" Target="/ppt/tableStyles.xml" Id="R984da85ea4324d4c" /><Relationship Type="http://schemas.openxmlformats.org/officeDocument/2006/relationships/slide" Target="/ppt/slides/slide1.xml" Id="R11c5ff075ed7481e" /><Relationship Type="http://schemas.openxmlformats.org/officeDocument/2006/relationships/slide" Target="/ppt/slides/slide2.xml" Id="Rb23ae661bc7b4b3e" /><Relationship Type="http://schemas.openxmlformats.org/officeDocument/2006/relationships/slide" Target="/ppt/slides/slide3.xml" Id="R71387bf1990e4123" /><Relationship Type="http://schemas.openxmlformats.org/officeDocument/2006/relationships/slide" Target="/ppt/slides/slide4.xml" Id="Rb5607d529eca43e4" /><Relationship Type="http://schemas.openxmlformats.org/officeDocument/2006/relationships/slide" Target="/ppt/slides/slide5.xml" Id="Rd22f9f37c3b5452d" /><Relationship Type="http://schemas.openxmlformats.org/officeDocument/2006/relationships/slide" Target="/ppt/slides/slide6.xml" Id="R22a4791a98b146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afa4b9b383f4e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TargetAware">
  <a:themeElements>
    <a:clrScheme name="TargetAware">
      <a:accent1>
        <a:srgbClr val="1D4ED8"/>
      </a:accent1>
      <a:accent2>
        <a:srgbClr val="14B8A6"/>
      </a:accent2>
      <a:accent3>
        <a:srgbClr val="F59E0B"/>
      </a:accent3>
      <a:accent4>
        <a:srgbClr val="7C3AED"/>
      </a:accent4>
      <a:accent5>
        <a:srgbClr val="EF4444"/>
      </a:accent5>
      <a:accent6>
        <a:srgbClr val="0F172A"/>
      </a:accent6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argetAwar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db6549041b495a" /><Relationship Type="http://schemas.openxmlformats.org/officeDocument/2006/relationships/notesMaster" Target="/ppt/notesMasters/notesMaster1.xml" Id="Reac00e48c0fb43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1c10f74961496b" /><Relationship Type="http://schemas.openxmlformats.org/officeDocument/2006/relationships/notesMaster" Target="/ppt/notesMasters/notesMaster1.xml" Id="Rf2854128f1644e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974223f29249a1" /><Relationship Type="http://schemas.openxmlformats.org/officeDocument/2006/relationships/notesMaster" Target="/ppt/notesMasters/notesMaster1.xml" Id="Rba6ea6e532b248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58b58c09ea4e40" /><Relationship Type="http://schemas.openxmlformats.org/officeDocument/2006/relationships/notesMaster" Target="/ppt/notesMasters/notesMaster1.xml" Id="R22e7777243a445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f71cbc8f9e471a" /><Relationship Type="http://schemas.openxmlformats.org/officeDocument/2006/relationships/notesMaster" Target="/ppt/notesMasters/notesMaster1.xml" Id="R335203eee64c4b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7cc0d2afaf43f1" /><Relationship Type="http://schemas.openxmlformats.org/officeDocument/2006/relationships/notesMaster" Target="/ppt/notesMasters/notesMaster1.xml" Id="R6e9cde6c89794b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e519661904bf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F5660FEE-9808-4D93-AFAA-3A62961A5F39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6FDA7893-10B7-4B4F-81DD-7C56E4F5B32F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D663F5-8909-4F90-956D-63064B99D48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5D4396-26F7-493D-952F-8D5486A37B5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11CD40-C393-4E49-B324-C5088D7F260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add94e7a7d94616" /><Relationship Type="http://schemas.openxmlformats.org/officeDocument/2006/relationships/slideLayout" Target="/ppt/slideLayouts/slideLayout2.xml" Id="Ree50f59919134f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022EB1-A6EF-4E69-9127-3B51FFE3B902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50f59919134f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62fe3162154aae" /><Relationship Type="http://schemas.openxmlformats.org/officeDocument/2006/relationships/notesSlide" Target="/ppt/notesSlides/notesSlide1.xml" Id="Rf5a0822e853c49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41ff13c4ed4508" /><Relationship Type="http://schemas.openxmlformats.org/officeDocument/2006/relationships/notesSlide" Target="/ppt/notesSlides/notesSlide2.xml" Id="R9ae228f6f91347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c215d9dd624304" /><Relationship Type="http://schemas.openxmlformats.org/officeDocument/2006/relationships/notesSlide" Target="/ppt/notesSlides/notesSlide3.xml" Id="Re92bde6459b14e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78a494e5584c1c" /><Relationship Type="http://schemas.openxmlformats.org/officeDocument/2006/relationships/notesSlide" Target="/ppt/notesSlides/notesSlide4.xml" Id="R9f03c9d93d6c4c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efb653a17c4ed3" /><Relationship Type="http://schemas.openxmlformats.org/officeDocument/2006/relationships/notesSlide" Target="/ppt/notesSlides/notesSlide5.xml" Id="R66d63eefd84147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1101a9941c4a9c" /><Relationship Type="http://schemas.openxmlformats.org/officeDocument/2006/relationships/notesSlide" Target="/ppt/notesSlides/notesSlide6.xml" Id="Rab4d047e619f4a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11CD40-C393-4E49-B324-C5088D7F26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1C2BF-1584-4823-80B7-B65AF985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96936-8EAC-4233-923E-FC28EEE6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5C6B5-2A0F-419D-8489-B4F80E32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Target-Aware Alteryx Migration Accelerator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D173C-EF62-4B1F-A775-EA1600A4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A management view of how complex Alteryx workflows can route to Power Query, dbt, Dataform, BigQuery SQL, Python notebooks, or API orchestration before Power BI visualization.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B8BBA-9429-45B2-A521-7FB16C41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3143250" cy="1428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BFDBF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43467-0193-4A65-88C8-EC5C3432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52750"/>
            <a:ext cx="3143250" cy="1428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A7F3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145D7-20B7-4778-9558-BE487035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52750"/>
            <a:ext cx="3143250" cy="1428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FED7A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4E1F7-FAF4-4470-AD48-8DA1A521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Current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65981-F250-456F-9881-0BE34006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Simple/mid workflows convert to Power Query and publish to Power BI.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D8724-0618-4CF4-BD02-7977EC5F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Expanded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E1229-4AC2-44FE-BF4A-C685A094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433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SQL-friendly workflows route to dbt, Dataform, or BigQuery.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F1952D-9B56-4556-89F0-3A0AEF8F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Complex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8D0C7-8F1F-46B2-BCAF-BD9F59E2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433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Macros, Python, and REST flows route to remediation and orchestration.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3C349-3688-41DC-BECA-5EE63707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6858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40AF"/>
                </a:solidFill>
              </a:defRPr>
            </a:pPr>
            <a:r>
              <a:rPr sz="975" b="1">
                <a:solidFill>
                  <a:srgbClr val="1E40AF"/>
                </a:solidFill>
              </a:rPr>
              <a:t>Management decision: support target-aware conversion, not only Power BI publishing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43C33C-D7C7-46CC-9F6B-EA9743EB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A8"/>
                </a:solidFill>
              </a:defRPr>
            </a:pPr>
            <a:r>
              <a:rPr sz="825" b="0">
                <a:solidFill>
                  <a:srgbClr val="7890A8"/>
                </a:solidFill>
              </a:rPr>
              <a:t>Target-aware Alteryx Accelerator | 1</a:t>
            </a:r>
          </a:p>
        </p:txBody>
      </p:sp>
    </p:spTree>
    <p:extLst>
      <p:ext uri="{BB962C8B-B14F-4D97-AF65-F5344CB8AC3E}">
        <p14:creationId xmlns:p14="http://schemas.microsoft.com/office/powerpoint/2010/main" val="10758716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11CD40-C393-4E49-B324-C5088D7F26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7D4D8-0D9D-430C-80B5-2466982B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Proposed Target-Aware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F352B-2912-45CC-9698-261FA888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The Accelerator assesses workflow complexity first, then generates the right target artifact.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12033-035C-4262-8F43-629EF941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D8E2E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6792E-F6E4-4340-89A5-F084D978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1381125" cy="685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D8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Upload</a:t>
            </a:r>
          </a:p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.yxmd / .yxmc / .yxzp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A6D0E-C883-4FC0-8F7A-15C8DA2A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1238250" cy="685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D8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Parse</a:t>
            </a:r>
          </a:p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4CCBD-CF43-4FE5-B509-329DF9B0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81250"/>
            <a:ext cx="1333500" cy="685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D8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Assess</a:t>
            </a:r>
          </a:p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Complexity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F468F-B319-40B0-919B-1171861C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81250"/>
            <a:ext cx="1571625" cy="685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Target</a:t>
            </a:r>
          </a:p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Recommendation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0ACCF-BB2F-4A5D-8E08-7AA06A74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81250"/>
            <a:ext cx="1123950" cy="685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B8A6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Validate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2B2DC-DC68-438F-A7D6-11737D4C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19075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B8A6"/>
            </a:solidFill>
          </a:ln>
        </p:spPr>
        <p:txBody>
          <a:bodyPr xmlns:a="http://schemas.openxmlformats.org/drawingml/2006/main" lIns="95250" tIns="57150" rIns="95250" bIns="57150" anchor="ctr">
            <a:normAutofit fontScale="885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Power BI consumes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curated tables/views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2D3BC-C1BC-4B54-8E1F-30AFED56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619375"/>
            <a:ext cx="1238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7ED85-6467-4E09-BF8A-CB77F706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F26C5-A711-4DD5-A16D-F38E0428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19375"/>
            <a:ext cx="1333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CCFA2C-05D3-4236-B8BB-6D9E1594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352550"/>
            <a:ext cx="17145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D8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Power Query /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Power BI Dataset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A0435-0EDD-4D99-BABE-3D8EB408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95500"/>
            <a:ext cx="17145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B8A6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dbt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Project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78DB1-0EBC-435B-A508-DAABEFE1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38450"/>
            <a:ext cx="17145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B8A6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Dataform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Project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D15B1-ECCC-41FE-8A8A-D4E1411D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81400"/>
            <a:ext cx="17145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B8A6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BigQuery SQL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Scripts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D0FE4-8ED2-4338-ACB7-FDF43165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24350"/>
            <a:ext cx="17145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Python /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Notebook 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50CEE-B1FD-440F-8DBE-13E56E51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67300"/>
            <a:ext cx="17145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F4444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API /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Orchestration</a:t>
            </a:r>
          </a:p>
        </p:txBody>
      </p:sp>
      <p:cxnSp>
        <p:nvCxnSpPr>
          <p:cNvPr id="20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962775" y="1628775"/>
            <a:ext cx="485775" cy="1095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7C3AED"/>
            </a:solidFill>
            <a:prstDash val="solid"/>
            <a:headEnd type="arrow" w="med" len="med"/>
          </a:ln>
        </p:spPr>
      </p:cxnSp>
      <p:cxnSp>
        <p:nvCxnSpPr>
          <p:cNvPr id="21" name=""/>
          <p:cNvCxnSpPr>
            <a:stCxn xmlns:a="http://schemas.openxmlformats.org/drawingml/2006/main" id="1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163050" y="1628775"/>
            <a:ext cx="476250" cy="1095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14B8A6"/>
            </a:solidFill>
            <a:prstDash val="solid"/>
            <a:headEnd type="arrow" w="med" len="med"/>
          </a:ln>
        </p:spPr>
      </p:cxnSp>
      <p:cxnSp>
        <p:nvCxnSpPr>
          <p:cNvPr id="22" name=""/>
          <p:cNvCxnSpPr>
            <a:stCxn xmlns:a="http://schemas.openxmlformats.org/drawingml/2006/main" id="8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6962775" y="2371725"/>
            <a:ext cx="485775" cy="352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7C3AED"/>
            </a:solidFill>
            <a:prstDash val="solid"/>
            <a:headEnd type="arrow" w="med" len="med"/>
          </a:ln>
        </p:spPr>
      </p:cxnSp>
      <p:cxnSp>
        <p:nvCxnSpPr>
          <p:cNvPr id="23" name=""/>
          <p:cNvCxnSpPr>
            <a:stCxn xmlns:a="http://schemas.openxmlformats.org/drawingml/2006/main" id="1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163050" y="2371725"/>
            <a:ext cx="476250" cy="352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14B8A6"/>
            </a:solidFill>
            <a:prstDash val="solid"/>
            <a:headEnd type="arrow" w="med" len="med"/>
          </a:ln>
        </p:spPr>
      </p:cxnSp>
      <p:cxnSp>
        <p:nvCxnSpPr>
          <p:cNvPr id="24" name=""/>
          <p:cNvCxnSpPr>
            <a:stCxn xmlns:a="http://schemas.openxmlformats.org/drawingml/2006/main" id="8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962775" y="2724150"/>
            <a:ext cx="485775" cy="390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7C3AED"/>
            </a:solidFill>
            <a:prstDash val="solid"/>
            <a:headEnd type="arrow" w="med" len="med"/>
          </a:ln>
        </p:spPr>
      </p:cxnSp>
      <p:cxnSp>
        <p:nvCxnSpPr>
          <p:cNvPr id="25" name=""/>
          <p:cNvCxnSpPr>
            <a:stCxn xmlns:a="http://schemas.openxmlformats.org/drawingml/2006/main" id="1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163050" y="2724150"/>
            <a:ext cx="476250" cy="390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14B8A6"/>
            </a:solidFill>
            <a:prstDash val="solid"/>
            <a:headEnd type="arrow" w="med" len="med"/>
          </a:ln>
        </p:spPr>
      </p:cxnSp>
      <p:cxnSp>
        <p:nvCxnSpPr>
          <p:cNvPr id="26" name=""/>
          <p:cNvCxnSpPr>
            <a:stCxn xmlns:a="http://schemas.openxmlformats.org/drawingml/2006/main" id="8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962775" y="2724150"/>
            <a:ext cx="485775" cy="1133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7C3AED"/>
            </a:solidFill>
            <a:prstDash val="solid"/>
            <a:headEnd type="arrow" w="med" len="med"/>
          </a:ln>
        </p:spPr>
      </p:cxnSp>
      <p:cxnSp>
        <p:nvCxnSpPr>
          <p:cNvPr id="27" name=""/>
          <p:cNvCxnSpPr>
            <a:stCxn xmlns:a="http://schemas.openxmlformats.org/drawingml/2006/main" id="1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163050" y="2724150"/>
            <a:ext cx="476250" cy="1133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14B8A6"/>
            </a:solidFill>
            <a:prstDash val="solid"/>
            <a:headEnd type="arrow" w="med" len="med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962775" y="2724150"/>
            <a:ext cx="485775" cy="1876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7C3AED"/>
            </a:solidFill>
            <a:prstDash val="solid"/>
            <a:headEnd type="arrow" w="med" len="med"/>
          </a:ln>
        </p:spPr>
      </p:cxnSp>
      <p:cxnSp>
        <p:nvCxnSpPr>
          <p:cNvPr id="29" name=""/>
          <p:cNvCxnSpPr>
            <a:stCxn xmlns:a="http://schemas.openxmlformats.org/drawingml/2006/main" id="1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163050" y="2724150"/>
            <a:ext cx="476250" cy="1876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14B8A6"/>
            </a:solidFill>
            <a:prstDash val="solid"/>
            <a:headEnd type="arrow" w="med" len="med"/>
          </a:ln>
        </p:spPr>
      </p:cxnSp>
      <p:cxnSp>
        <p:nvCxnSpPr>
          <p:cNvPr id="30" name=""/>
          <p:cNvCxnSpPr>
            <a:stCxn xmlns:a="http://schemas.openxmlformats.org/drawingml/2006/main" id="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962775" y="2724150"/>
            <a:ext cx="485775" cy="2619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7C3AED"/>
            </a:solidFill>
            <a:prstDash val="solid"/>
            <a:headEnd type="arrow" w="med" len="med"/>
          </a:ln>
        </p:spPr>
      </p:cxnSp>
      <p:cxnSp>
        <p:nvCxnSpPr>
          <p:cNvPr id="31" name=""/>
          <p:cNvCxnSpPr>
            <a:stCxn xmlns:a="http://schemas.openxmlformats.org/drawingml/2006/main" id="19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163050" y="2724150"/>
            <a:ext cx="476250" cy="2619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14B8A6"/>
            </a:solidFill>
            <a:prstDash val="solid"/>
            <a:head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714390-B19F-42BC-9F35-758F7846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A8"/>
                </a:solidFill>
              </a:defRPr>
            </a:pPr>
            <a:r>
              <a:rPr sz="825" b="0">
                <a:solidFill>
                  <a:srgbClr val="7890A8"/>
                </a:solidFill>
              </a:rPr>
              <a:t>Target-aware Alteryx Accelerator | 2</a:t>
            </a:r>
          </a:p>
        </p:txBody>
      </p:sp>
    </p:spTree>
    <p:extLst>
      <p:ext uri="{BB962C8B-B14F-4D97-AF65-F5344CB8AC3E}">
        <p14:creationId xmlns:p14="http://schemas.microsoft.com/office/powerpoint/2010/main" val="1934331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11CD40-C393-4E49-B324-C5088D7F26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E8D3B-0345-4731-B7E8-4C201239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Swimlane: Roles And Responsibilities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34785-387F-436D-B6D2-956F93EF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Shows where the user, accelerator, LLM layer, target platforms, and Power BI consumption fit.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7A05F-51F9-4644-AE28-D9575EAE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D8E2E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ADE23-F1B8-49D3-8B65-80985D8D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76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1430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A74BF-E7C5-4C37-9F4A-DC6341DE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Business / Migration 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D0D20-0075-4BD9-A4C1-CB60FF76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11277600" cy="76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DBFAC-E2A2-4324-BA22-F18D4F45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Alteryx Accelerator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E45AE-1BF3-40D4-B51A-3598C75D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11277600" cy="76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F2203-ACAC-444F-9BD7-E237FEBC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LLM-Assisted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823D1-5C73-4917-B17D-3621094B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1277600" cy="76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75457-2249-4B65-A877-C9FD0C4C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Target Platforms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7AE7D-FBCC-4F0D-8FDA-28962959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11277600" cy="76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1430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2DAE7-D0A5-49EE-A0D4-606A4924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BI Consumption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52086-0C2F-45C2-AE36-25C8E3AA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383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D8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Upload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package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5841A-116E-43E6-8BA4-F76F3935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383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D8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Review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assessment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92B85-CABE-403C-81F0-DB72BB5A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D8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Approve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89564D-8973-4E62-A39A-58B664BE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383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D8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Review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artifacts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E1EC51-CCC1-402B-887F-6FD66CDD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383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D8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Approve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deploy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89DF74-D49E-4DDD-B8F7-A22FE45E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146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B8A6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Parse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8B9C4F-31F8-4770-ACBA-EACC30A7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146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B8A6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Graph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944819-10E8-4281-8400-D8E958C7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146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B8A6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Classify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2899A6-EB68-4FAF-BC8D-1D100478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146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B8A6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Recommend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F7CA96-A11F-4412-ADA7-FD1B31EA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146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B8A6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Generate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FF7888-70E5-4FFA-ABCF-D74885B6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146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B8A6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Validate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4EA537-D08E-4EC7-AD7E-C2B845B1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909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Expression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mapping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5AC4CD-961F-43AD-92D7-3BFA6C30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Macro / API /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Python guidance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6E1C4D-F17A-49A4-A04C-0F0B970D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909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BRD /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reports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39FB99-2DBD-4558-AA4B-ED396319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672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Power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Query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15949E-3A00-4C67-AC35-4BDD4F5C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672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dbt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1215E2-23E8-489B-B3F6-60936A75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672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Dataform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680105-2112-4DDA-9F13-60B0471A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672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BQ SQL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FC0EDD-23E7-48DF-BB62-4EA794CD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672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Notebook /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Pipeline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3BBD13-5B48-4BB3-91AD-EFD5080C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435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F4444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Curated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tables/views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2E7712-5D75-4EC0-ABC8-24439C84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435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F4444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Semantic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model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FB3697-6E9C-4940-9E97-6B22593D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43500"/>
            <a:ext cx="114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F4444"/>
            </a:solidFill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Power BI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reports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5A0523-DDBD-4DF2-9AA4-81875B2E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D7BA97-1C5D-4491-BA9B-FD3C27E0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804DB8-9044-4E2E-8553-99B4538C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DD3C0A-69C2-4F8F-A1A3-9050C6BA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E22DF4-209C-46D2-BBB7-463CE1A5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86050"/>
            <a:ext cx="95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ADB5B2-6322-459E-9E4B-C4FC9224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86050"/>
            <a:ext cx="95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E89BEB-FA60-40C1-ACAD-A1F58286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89E039-97FD-411C-8993-646CB330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30785A-981E-45D2-897E-1F189ADA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CA581E-5DA7-4180-B02C-70EBCE70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14950"/>
            <a:ext cx="952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41C21A-9696-4E50-BBDD-6F8E0CD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A8"/>
                </a:solidFill>
              </a:defRPr>
            </a:pPr>
            <a:r>
              <a:rPr sz="825" b="0">
                <a:solidFill>
                  <a:srgbClr val="7890A8"/>
                </a:solidFill>
              </a:rPr>
              <a:t>Target-aware Alteryx Accelerator | 3</a:t>
            </a:r>
          </a:p>
        </p:txBody>
      </p:sp>
    </p:spTree>
    <p:extLst>
      <p:ext uri="{BB962C8B-B14F-4D97-AF65-F5344CB8AC3E}">
        <p14:creationId xmlns:p14="http://schemas.microsoft.com/office/powerpoint/2010/main" val="825290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11CD40-C393-4E49-B324-C5088D7F26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E2D1F-3367-4802-8632-BE325B54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UI Wireframe: Target Recommendation Screen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C78AA-D180-411F-ADD6-8E4E1291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Management-facing view that explains why a workflow should route to a specific target.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D9733-902F-4C02-8142-E1FFFD17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D8E2E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87ACA-D643-4A72-A82D-877944A3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11049000" cy="476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4427D-295C-40F4-A185-3CA46344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Recommended Target: Dataform / BigQuery 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A710B-45C2-44E4-BE7A-68F73900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Reason: Source and target are BigQuery; transformation logic is mostly SQL-friendly. REST and Python sections require separate remediation artifacts.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97BEA-D4B5-4EE5-95F0-0F7517BF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314325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BFDBF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454CE-541C-4F40-AB86-DCBFD1C7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81325"/>
            <a:ext cx="2914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40AF"/>
                </a:solidFill>
              </a:defRPr>
            </a:pPr>
            <a:r>
              <a:rPr sz="1050" b="1">
                <a:solidFill>
                  <a:srgbClr val="1E40AF"/>
                </a:solidFill>
              </a:rPr>
              <a:t>Target Option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0BEA2-3AA2-433C-8308-301E0E48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76550"/>
            <a:ext cx="152400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BFDBF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C7EE8-85F5-47E3-BC25-95CB9108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8132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40AF"/>
                </a:solidFill>
              </a:defRPr>
            </a:pPr>
            <a:r>
              <a:rPr sz="1050" b="1">
                <a:solidFill>
                  <a:srgbClr val="1E40AF"/>
                </a:solidFill>
              </a:rPr>
              <a:t>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7A4DF-31D6-4B5B-841D-7962B6E0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76550"/>
            <a:ext cx="533400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BFDBF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D4CC4-E8B7-41A1-A369-B16511AC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81325"/>
            <a:ext cx="510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40AF"/>
                </a:solidFill>
              </a:defRPr>
            </a:pPr>
            <a:r>
              <a:rPr sz="1050" b="1">
                <a:solidFill>
                  <a:srgbClr val="1E40AF"/>
                </a:solidFill>
              </a:rPr>
              <a:t>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CE0F6-AB17-4CE5-B22A-67900EF0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314325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5767DA-F35E-4EBE-BE62-8ED2D38A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2914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Power Query / Power BI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4C5AE3-B749-4223-B90C-68F5E7D2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76600"/>
            <a:ext cx="152400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F21A19-C113-4CB5-8ACA-56751EE5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7185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Medium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3D97BC-4F14-476D-8183-E38A9572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76600"/>
            <a:ext cx="533400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BCFCF3-2211-4A9B-9DD5-51EE8A85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71850"/>
            <a:ext cx="510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Good for simple direct BI outputs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7EC48E-0259-4CF7-B33E-A7C3F627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314325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F1B46-A870-4A1F-943C-92F31203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2914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dbt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5E7F0A-B99B-436E-840F-15DE192E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76650"/>
            <a:ext cx="152400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29A26B-7FCE-4E34-B693-8F5330B4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719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B8A6"/>
                </a:solidFill>
              </a:defRPr>
            </a:pPr>
            <a:r>
              <a:rPr sz="975" b="1">
                <a:solidFill>
                  <a:srgbClr val="14B8A6"/>
                </a:solidFill>
              </a:rPr>
              <a:t>High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CFBA32-7F0E-4B26-AB4D-AB65877E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76650"/>
            <a:ext cx="533400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B0CD44-FB3B-48CF-9A2A-CFB21515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71900"/>
            <a:ext cx="510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Strong fit for SQL warehouse transformation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30E26B-007E-4320-BF73-B39DB27D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314325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153AE6-5DB5-44EB-BD8A-D51BC806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2914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Dataform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37E077-A66F-4D48-9485-A3C3D7DA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76700"/>
            <a:ext cx="152400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F10801-7027-4A0B-A3F7-69FDEDA1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7195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B8A6"/>
                </a:solidFill>
              </a:defRPr>
            </a:pPr>
            <a:r>
              <a:rPr sz="975" b="1">
                <a:solidFill>
                  <a:srgbClr val="14B8A6"/>
                </a:solidFill>
              </a:rPr>
              <a:t>High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C6C0F5-C2BF-458C-90CA-B739DE7F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76700"/>
            <a:ext cx="533400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219CE9-AEC2-4533-A1B8-92023A71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71950"/>
            <a:ext cx="510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Best fit for BigQuery-native development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8483C0-BE48-44B2-A778-9E3C4DFC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314325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EFC26B-1BC6-4046-B55B-E92F79AE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2914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BigQuery SQL Scripts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86DBB7-9F86-4F5B-9B5D-BB23D6DF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476750"/>
            <a:ext cx="152400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75D076-6727-4CE5-A1D5-D960DAB5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720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B8A6"/>
                </a:solidFill>
              </a:defRPr>
            </a:pPr>
            <a:r>
              <a:rPr sz="975" b="1">
                <a:solidFill>
                  <a:srgbClr val="14B8A6"/>
                </a:solidFill>
              </a:rPr>
              <a:t>High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0024FF-39F1-4A4A-866B-7C3580C7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76750"/>
            <a:ext cx="533400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ACB288-7750-409A-AAF5-BFEEC4FE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72000"/>
            <a:ext cx="510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Direct BQ deployment option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B84EE1-C07C-4921-820C-5D2535AD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314325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015D1F-DD3E-4CBF-9144-2C13517C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2914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Python Notebook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4E732A-6D78-42CA-8642-C2BCA839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876800"/>
            <a:ext cx="152400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C9D257-2EF1-406C-8669-FDD32640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97205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4444"/>
                </a:solidFill>
              </a:defRPr>
            </a:pPr>
            <a:r>
              <a:rPr sz="975" b="1">
                <a:solidFill>
                  <a:srgbClr val="EF4444"/>
                </a:solidFill>
              </a:rPr>
              <a:t>Required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E564E8-A338-4301-AEEB-2A21F036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876800"/>
            <a:ext cx="533400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1BE531-82EF-4CC1-AF66-7AC1D53D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72050"/>
            <a:ext cx="510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Python/Jupyter tool detected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2A35A9-D927-44EC-8E65-D3CC7544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314325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CB4771-F7C3-48DA-B58C-8523E7A5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72100"/>
            <a:ext cx="2914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Pipeline / API Ingestion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D70ECF-487C-4623-A71B-02FCA2E7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276850"/>
            <a:ext cx="152400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D35B33-2445-4FDE-BE03-88088458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3721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4444"/>
                </a:solidFill>
              </a:defRPr>
            </a:pPr>
            <a:r>
              <a:rPr sz="975" b="1">
                <a:solidFill>
                  <a:srgbClr val="EF4444"/>
                </a:solidFill>
              </a:rPr>
              <a:t>Required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F91246-4727-43EF-8644-537AF1CA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276850"/>
            <a:ext cx="533400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8F5FB9-B633-4394-B6D1-552CC863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372100"/>
            <a:ext cx="510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Bearer-token REST flow detected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A99DF2-5253-4280-8FE9-AFF579CC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809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40AF"/>
                </a:solidFill>
              </a:defRPr>
            </a:pPr>
            <a:r>
              <a:rPr sz="975" b="1">
                <a:solidFill>
                  <a:srgbClr val="1E40AF"/>
                </a:solidFill>
              </a:rPr>
              <a:t>Accept Recommendation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DB2174-E729-4DF0-8148-FEE5B10D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638800"/>
            <a:ext cx="2095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Choose Different Target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817A44-A0B9-4526-A0A6-0570C50F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6388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solidFill>
              <a:srgbClr val="ECFDF5"/>
            </a:solidFill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47857"/>
                </a:solidFill>
              </a:defRPr>
            </a:pPr>
            <a:r>
              <a:rPr sz="975" b="1">
                <a:solidFill>
                  <a:srgbClr val="047857"/>
                </a:solidFill>
              </a:rPr>
              <a:t>Export Assessment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F82893-F0A4-4D25-A4B5-C27D973F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A8"/>
                </a:solidFill>
              </a:defRPr>
            </a:pPr>
            <a:r>
              <a:rPr sz="825" b="0">
                <a:solidFill>
                  <a:srgbClr val="7890A8"/>
                </a:solidFill>
              </a:rPr>
              <a:t>Target-aware Alteryx Accelerator | 4</a:t>
            </a:r>
          </a:p>
        </p:txBody>
      </p:sp>
    </p:spTree>
    <p:extLst>
      <p:ext uri="{BB962C8B-B14F-4D97-AF65-F5344CB8AC3E}">
        <p14:creationId xmlns:p14="http://schemas.microsoft.com/office/powerpoint/2010/main" val="136750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11CD40-C393-4E49-B324-C5088D7F26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F6669-E623-46D6-8895-317A89C0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Decision Matrix For Target Selection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F5ED5-B7F6-4AEF-924B-BCD1219A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The target depends on data location, workflow complexity, production needs, and remediation requirements.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E1BBE-2F4F-4545-BDAC-FCE316D6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D8E2E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0F38B-592A-4B06-9DFF-F2D614DB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381375" cy="4191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1430">
            <a:solidFill>
              <a:srgbClr val="0F172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E0568-1155-4F78-AD84-3C3528AB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3114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E0505-8821-46C2-8AA2-37CA302A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524000"/>
            <a:ext cx="2571750" cy="4191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1430">
            <a:solidFill>
              <a:srgbClr val="0F172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082D5-2F93-4614-BB6C-DD8B9DDA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638300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Recommended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C205A-6031-4DF3-90EA-0589B4DB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24000"/>
            <a:ext cx="4953000" cy="4191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1430">
            <a:solidFill>
              <a:srgbClr val="0F172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362D4-D906-4B48-B633-1053C0F0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638300"/>
            <a:ext cx="468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Why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E5010-A5F9-42F7-8FF9-5E747242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338137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19CA5-3250-4C2E-AF20-3EC1958D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66925"/>
            <a:ext cx="3114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Simple file-to-dashboard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55F0E-858F-4062-86CE-7A98E595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943100"/>
            <a:ext cx="257175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919D9-536A-4CD1-8ED9-D65E2803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066925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Power Query / Power BI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1FE45-990F-4611-87BD-3AD53590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43100"/>
            <a:ext cx="495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A8AB0-35FB-44E4-B100-F0A7C01A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066925"/>
            <a:ext cx="468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Fastest route; existing path supports simple/mid workflows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0D736C-52C4-47DE-9429-2513A488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338137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9C0455-2C01-48E1-A0B1-8838A1BF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3114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BigQuery source and target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2A20B7-C24C-42C3-BF85-8DF0FFA7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95550"/>
            <a:ext cx="257175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6C81D7-7873-4F1C-9AAF-4D0E77F2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619375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Dataform / BQ 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9D0B68-C6AF-4BB0-8621-8B106F7A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95550"/>
            <a:ext cx="495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13F54D-B035-494D-B019-0EEC4079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19375"/>
            <a:ext cx="468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Aligns with BQ-native governance and pipelines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C11448-7EB9-4413-98B2-BDA6E7FD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338137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4AB5E7-3E70-43D3-B92A-0071097B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71825"/>
            <a:ext cx="3114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SQL warehouse transformation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D159C-C1B7-4C8F-8FD3-C418A7B5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48000"/>
            <a:ext cx="257175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93AF8F-4CC5-4DD8-ABC4-671A008C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71825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dbt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7E976A-468A-4865-A36A-CE202920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48000"/>
            <a:ext cx="495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7513A4-4FC6-44D4-9DBC-F0FB1EBF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71825"/>
            <a:ext cx="468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Production-grade SQL models, lineage, tests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82129D-FBBD-46A7-8F91-13BE70F9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338137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87BE84-7E04-4EBE-972B-FE430169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24275"/>
            <a:ext cx="3114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REST API bearer token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BBB394-E8AD-4458-950D-3845A415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600450"/>
            <a:ext cx="257175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73BEE0-D740-4ECE-A17D-E8B86EC0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724275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Ingestion pipeline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3CC907-9C8B-4877-9AF9-81C9FB79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00450"/>
            <a:ext cx="495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BC2F0C-F95C-4578-9E1A-8120FAC7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24275"/>
            <a:ext cx="468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Token handling should happen before BI transformation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5F7165-1140-4989-86B4-ABE5D5CC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338137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1285C4-728E-4CAC-B4DC-4EAC36E7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3114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Python/Jupyter tool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161524-F668-4ECA-AE7F-2EA68FD7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152900"/>
            <a:ext cx="257175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EC848B-88D6-4E77-ADB4-0C635030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276725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Python notebook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951CAF-573D-4464-9802-9CDC8843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52900"/>
            <a:ext cx="495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FE453E-3EF6-48A0-8670-EF86D61B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276725"/>
            <a:ext cx="468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Preserve custom code and ML/data science logic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59CE1C-971C-4818-B913-E3AD77F5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338137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604F93-DEAD-49CE-B28F-FECCB43D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29175"/>
            <a:ext cx="3114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Batch / iterative macro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8DCC92-B6DA-457C-9E67-276E0410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705350"/>
            <a:ext cx="257175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819571-F766-405A-A66E-BA1EA5B3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829175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Flow redesign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AD6510-32D1-4DBE-A8C4-108FB764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05350"/>
            <a:ext cx="49530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E2E8F0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1357D1-9DBD-47CA-8DA8-BC9796C0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829175"/>
            <a:ext cx="468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Requires orchestration or recursive logic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A69D8E-7C08-42D6-9A0B-A2DFE87C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A8"/>
                </a:solidFill>
              </a:defRPr>
            </a:pPr>
            <a:r>
              <a:rPr sz="825" b="0">
                <a:solidFill>
                  <a:srgbClr val="7890A8"/>
                </a:solidFill>
              </a:rPr>
              <a:t>Target-aware Alteryx Accelerator | 5</a:t>
            </a:r>
          </a:p>
        </p:txBody>
      </p:sp>
    </p:spTree>
    <p:extLst>
      <p:ext uri="{BB962C8B-B14F-4D97-AF65-F5344CB8AC3E}">
        <p14:creationId xmlns:p14="http://schemas.microsoft.com/office/powerpoint/2010/main" val="16552854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11CD40-C393-4E49-B324-C5088D7F26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33C95-1096-416A-85BC-CF989437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Support Required To Deliver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5E049-C52A-4F0E-B949-E4B6DEAC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The ask covers environment access, representative workflows, LLM capability, and specialized resources.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242DA-0604-4901-A923-C153EBE6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D8E2E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E4F10-B637-499B-B028-CAD0D8CD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3333750" cy="4000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7F38C-20D0-4095-983A-C24413CC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095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4ED8">
              <a:alpha val="13333"/>
            </a:srgbClr>
          </a:solidFill>
          <a:ln xmlns:a="http://schemas.openxmlformats.org/drawingml/2006/main" w="0">
            <a:solidFill>
              <a:srgbClr val="1D4ED8">
                <a:alpha val="13333"/>
              </a:srgbClr>
            </a:solidFill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Environment &amp;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86E53-B150-4472-8B2B-39E89F35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3329B-2DAC-485F-823B-A54E8D2B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VDI access to build/test in client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AD1A2-591E-4DFC-8D5A-2021A890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E74F9-A15B-46D0-8785-F3C6618C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341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Representative workflows that mimic actual complexity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EC2A8-97D2-40E8-80B8-FAF0B7BD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05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865B4-CD9D-403C-B351-6FBB1C5F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518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Expected Alteryx outputs for reconciliation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A8878-4439-4804-87CA-E9DD7A8A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95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612D4-5ECC-4528-9759-C2292F03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291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125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BigQuery, dbt/Dataform, Power BI sandbox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F1004-0E08-456D-9893-9FF4DE09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19250"/>
            <a:ext cx="3333750" cy="4000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A1800-A748-473F-9030-A7B7B97C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66900"/>
            <a:ext cx="2095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>
              <a:alpha val="13333"/>
            </a:srgbClr>
          </a:solidFill>
          <a:ln xmlns:a="http://schemas.openxmlformats.org/drawingml/2006/main" w="0">
            <a:solidFill>
              <a:srgbClr val="7C3AED">
                <a:alpha val="13333"/>
              </a:srgbClr>
            </a:solidFill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LLM &amp; 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B1882-305D-4A75-9D65-1FB56DAE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037BD-EA5A-4ABC-9FE9-C4B27CC2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574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6815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Approved GPT / Claude Sonnet / DigitalOcean model 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17C7BF-60B9-499D-A8A3-2A69E0EE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CCEB0E-48C3-41EA-BB93-F21CDA36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698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Large context and structured JSON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D8DA70-7936-4129-BB5E-83A2A7A7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05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ED105E-300A-4A48-AFFF-8CB04C84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385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48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Prompt caching and token/cost monitoring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2183A4-1050-434D-9907-39EBCC63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95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5DD3BD-E75B-4404-BDEF-9B9211E2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291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026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Secure handling of workflow metadata and secrets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3BAF6D-A10D-46BC-A127-6666D75B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3333750" cy="4000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B8A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CDF1DA-2503-4D0A-AC3A-034DA8A7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095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>
              <a:alpha val="13333"/>
            </a:srgbClr>
          </a:solidFill>
          <a:ln xmlns:a="http://schemas.openxmlformats.org/drawingml/2006/main" w="0">
            <a:solidFill>
              <a:srgbClr val="14B8A6">
                <a:alpha val="13333"/>
              </a:srgbClr>
            </a:solidFill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B8A6"/>
                </a:solidFill>
              </a:defRPr>
            </a:pPr>
            <a:r>
              <a:rPr sz="975" b="1">
                <a:solidFill>
                  <a:srgbClr val="14B8A6"/>
                </a:solidFill>
              </a:rPr>
              <a:t>People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2671C0-8AE7-499A-8C3E-4378EBD1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24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C434A2-2F29-4457-A07A-C8B9A4AD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Senior Python backend developer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CA7C86-589E-4989-8EAE-08CA8854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DE58CE-ED78-4A5C-9FFE-91920445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480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Python + ML/LLM engineer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F1F7A4-AA4A-4F8C-A3D7-BCA282FC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05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C84BD5-77BE-4447-8B53-85F32012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385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SQL/dbt/Dataform/BigQuery engineer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E957F3-5F4E-42E4-8F9A-26853E36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95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A39C0F-4E38-4569-AA15-ECA5EAC9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291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723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UI designer and React frontend developer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566F52-224D-4AB5-91FD-88B5F038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57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645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Recommended next step: secure VDI + representative workflow samples, then validate Phase 1 assessment and target recommendation before building generators.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12A05F-F858-4781-A233-AA5CEE3A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A8"/>
                </a:solidFill>
              </a:defRPr>
            </a:pPr>
            <a:r>
              <a:rPr sz="825" b="0">
                <a:solidFill>
                  <a:srgbClr val="7890A8"/>
                </a:solidFill>
              </a:rPr>
              <a:t>Target-aware Alteryx Accelerator | 6</a:t>
            </a:r>
          </a:p>
        </p:txBody>
      </p:sp>
    </p:spTree>
    <p:extLst>
      <p:ext uri="{BB962C8B-B14F-4D97-AF65-F5344CB8AC3E}">
        <p14:creationId xmlns:p14="http://schemas.microsoft.com/office/powerpoint/2010/main" val="4294869"/>
      </p:ext>
    </p:extLst>
  </p:cSld>
</p:sld>
</file>

<file path=ppt/theme/theme1.xml><?xml version="1.0" encoding="utf-8"?>
<a:theme xmlns:a="http://schemas.openxmlformats.org/drawingml/2006/main" name="TargetAware">
  <a:themeElements>
    <a:clrScheme name="TargetAware">
      <a:accent1>
        <a:srgbClr val="1D4ED8"/>
      </a:accent1>
      <a:accent2>
        <a:srgbClr val="14B8A6"/>
      </a:accent2>
      <a:accent3>
        <a:srgbClr val="F59E0B"/>
      </a:accent3>
      <a:accent4>
        <a:srgbClr val="7C3AED"/>
      </a:accent4>
      <a:accent5>
        <a:srgbClr val="EF4444"/>
      </a:accent5>
      <a:accent6>
        <a:srgbClr val="0F172A"/>
      </a:accent6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argetAwar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2026-04-30T14:45:37.4290000Z</dcterms:created>
  <dcterms:modified xsi:type="dcterms:W3CDTF">2026-04-30T14:45:37.4290000Z</dcterms:modified>
</coreProperties>
</file>